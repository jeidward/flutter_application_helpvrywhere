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92608"/>
            <a:ext cx="109728" cy="64008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A3A3A"/>
                </a:solidFill>
                <a:latin typeface="Cambria"/>
              </a:rPr>
              <a:t>Project implementation details –  Nearby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6949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A3A3A"/>
                </a:solidFill>
                <a:latin typeface="Calibri"/>
              </a:rPr>
              <a:t>Real-time community map — volunteers see help requests around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83080"/>
            <a:ext cx="6949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9D55"/>
                </a:solidFill>
                <a:latin typeface="Calibri"/>
              </a:rPr>
              <a:t>»  </a:t>
            </a:r>
            <a:r>
              <a:rPr sz="1300">
                <a:solidFill>
                  <a:srgbClr val="555555"/>
                </a:solidFill>
                <a:latin typeface="Calibri"/>
              </a:rPr>
              <a:t>Live Firestore stream of all `active` requests — no polling, instant update when a new one is posted.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F9D55"/>
                </a:solidFill>
                <a:latin typeface="Calibri"/>
              </a:rPr>
              <a:t>»  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Volunteer's GPS + Geolocator compute distance per request; sorted nearest first.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F9D55"/>
                </a:solidFill>
                <a:latin typeface="Calibri"/>
              </a:rPr>
              <a:t>»  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Mapbox map preview with avatar pin (volunteer) + numbered orange pins (requests).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F9D55"/>
                </a:solidFill>
                <a:latin typeface="Calibri"/>
              </a:rPr>
              <a:t>»  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Category chips filter the same stream client-side (Groceries  ·  Transport  ·  Household  ·  Companionship).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F9D55"/>
                </a:solidFill>
                <a:latin typeface="Calibri"/>
              </a:rPr>
              <a:t>»  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“Full map” button → dedicated fullscreen view with draggable bottom-sheet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160520"/>
            <a:ext cx="1325880" cy="502920"/>
          </a:xfrm>
          <a:prstGeom prst="roundRect">
            <a:avLst/>
          </a:prstGeom>
          <a:solidFill>
            <a:srgbClr val="FFF7E1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Firestore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57360" y="4325112"/>
            <a:ext cx="14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4160520"/>
            <a:ext cx="1325880" cy="502920"/>
          </a:xfrm>
          <a:prstGeom prst="roundRect">
            <a:avLst/>
          </a:prstGeom>
          <a:solidFill>
            <a:srgbClr val="C8CDD3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Stream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66120" y="4325112"/>
            <a:ext cx="14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4160520"/>
            <a:ext cx="1325880" cy="502920"/>
          </a:xfrm>
          <a:prstGeom prst="roundRect">
            <a:avLst/>
          </a:prstGeom>
          <a:solidFill>
            <a:srgbClr val="E8EEF8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+ My GPS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74880" y="4325112"/>
            <a:ext cx="14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7760" y="4160520"/>
            <a:ext cx="1325880" cy="502920"/>
          </a:xfrm>
          <a:prstGeom prst="roundRect">
            <a:avLst/>
          </a:prstGeom>
          <a:solidFill>
            <a:srgbClr val="C8CDD3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Filter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283640" y="4325112"/>
            <a:ext cx="14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4160520"/>
            <a:ext cx="1325880" cy="502920"/>
          </a:xfrm>
          <a:prstGeom prst="roundRect">
            <a:avLst/>
          </a:prstGeom>
          <a:solidFill>
            <a:srgbClr val="E6F7EE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Map +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00600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A3A3A"/>
                </a:solidFill>
                <a:latin typeface="Calibri"/>
              </a:rPr>
              <a:t>Built with:</a:t>
            </a:r>
          </a:p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Flutter  ·  Cloud Firestore  ·  Mapbox Maps SDK  ·  Geolocator  ·  Firebase Auth</a:t>
            </a:r>
          </a:p>
          <a:p>
            <a:pPr algn="l"/>
            <a:r>
              <a:rPr sz="400" b="0" i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Distance is computed client-side with Geolocator.distanceBetween, so it stays accurate even when the user moves — no extra Firestore reads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188720"/>
            <a:ext cx="4160520" cy="3749039"/>
          </a:xfrm>
          <a:prstGeom prst="rect">
            <a:avLst/>
          </a:prstGeom>
          <a:solidFill>
            <a:srgbClr val="FAFBFC"/>
          </a:solidFill>
          <a:ln w="15875">
            <a:solidFill>
              <a:srgbClr val="9EA3A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1">
                <a:solidFill>
                  <a:srgbClr val="9EA3AA"/>
                </a:solidFill>
                <a:latin typeface="Calibri"/>
              </a:rPr>
              <a:t>📱  Screenshot:
Map preview + nearby cards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5074920"/>
            <a:ext cx="2011680" cy="1280160"/>
          </a:xfrm>
          <a:prstGeom prst="rect">
            <a:avLst/>
          </a:prstGeom>
          <a:solidFill>
            <a:srgbClr val="FAFBFC"/>
          </a:solidFill>
          <a:ln w="15875">
            <a:solidFill>
              <a:srgbClr val="9EA3A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 i="1">
                <a:solidFill>
                  <a:srgbClr val="9EA3AA"/>
                </a:solidFill>
                <a:latin typeface="Calibri"/>
              </a:rPr>
              <a:t>Full 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0" y="5074920"/>
            <a:ext cx="2011680" cy="1280160"/>
          </a:xfrm>
          <a:prstGeom prst="rect">
            <a:avLst/>
          </a:prstGeom>
          <a:solidFill>
            <a:srgbClr val="FAFBFC"/>
          </a:solidFill>
          <a:ln w="15875">
            <a:solidFill>
              <a:srgbClr val="9EA3A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 i="1">
                <a:solidFill>
                  <a:srgbClr val="9EA3AA"/>
                </a:solidFill>
                <a:latin typeface="Calibri"/>
              </a:rPr>
              <a:t>Request 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9D55"/>
                </a:solidFill>
                <a:latin typeface="Calibri"/>
              </a:rPr>
              <a:t>CAPSTONE DESIGN</a:t>
            </a:r>
          </a:p>
          <a:p>
            <a:pPr algn="l"/>
            <a:r>
              <a:rPr sz="800" b="0" i="0">
                <a:solidFill>
                  <a:srgbClr val="3A3A3A"/>
                </a:solidFill>
                <a:latin typeface="Calibri"/>
              </a:rPr>
              <a:t>INNOVATION  |  COLLABORATION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1">
                <a:solidFill>
                  <a:srgbClr val="555555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134088" y="6400800"/>
            <a:ext cx="54864" cy="41148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92608"/>
            <a:ext cx="109728" cy="64008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A3A3A"/>
                </a:solidFill>
                <a:latin typeface="Cambria"/>
              </a:rPr>
              <a:t>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»  Three-layer view of the app — what runs on the phone, what runs in the cloud, and how they talk.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11384280" cy="1234440"/>
          </a:xfrm>
          <a:prstGeom prst="roundRect">
            <a:avLst/>
          </a:prstGeom>
          <a:solidFill>
            <a:srgbClr val="E8EEF8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0136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  <a:latin typeface="Cambria"/>
              </a:rPr>
              <a:t>Mobile App  (Flutter)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1945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Auth &amp; Profile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Sign in / 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6340" y="21945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Help Others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Nearby request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21945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Need Help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Tap to call AI overlay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32620" y="21945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AI Overlay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Floating window
with voice + TTS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063240"/>
            <a:ext cx="11384280" cy="1234440"/>
          </a:xfrm>
          <a:prstGeom prst="roundRect">
            <a:avLst/>
          </a:prstGeom>
          <a:solidFill>
            <a:srgbClr val="FFF7E1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7296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  <a:latin typeface="Cambria"/>
              </a:rPr>
              <a:t>On-device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5661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Speech-to-Text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User goal
→ transcript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6340" y="35661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Text-to-Speech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Speaks AI
instructions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35661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Native Screen Capture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Android Media
Projection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32620" y="35661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Geolocator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GPS position
for distance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34840"/>
            <a:ext cx="11384280" cy="1234440"/>
          </a:xfrm>
          <a:prstGeom prst="roundRect">
            <a:avLst/>
          </a:prstGeom>
          <a:solidFill>
            <a:srgbClr val="E6F7EE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4456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  <a:latin typeface="Cambria"/>
              </a:rPr>
              <a:t>Cloud 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9377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Firebase Auth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Account + phone
verification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6340" y="49377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Cloud Firestore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Users +
requests stream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49377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Gemini 2.5 Flash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Vision API —
screen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2620" y="4937760"/>
            <a:ext cx="20802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Mapbox</a:t>
            </a:r>
          </a:p>
          <a:p>
            <a:pPr algn="ctr"/>
            <a:r>
              <a:rPr sz="950">
                <a:solidFill>
                  <a:srgbClr val="555555"/>
                </a:solidFill>
                <a:latin typeface="Calibri"/>
              </a:rPr>
              <a:t>Map tiles +
geocoding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89320" y="2926080"/>
            <a:ext cx="274320" cy="164592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5989320" y="4297680"/>
            <a:ext cx="274320" cy="164592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760720"/>
            <a:ext cx="11384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A3A3A"/>
                </a:solidFill>
                <a:latin typeface="Calibri"/>
              </a:rPr>
              <a:t>End-to-end example — “Help me open YouTube”: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user speaks goal  →  Speech-to-Text transcribes  →  Screen capture  →  Gemini analyzes screenshot + goal  →  Text-to-Speech reads the next step  →  user taps the target. Loop until done.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9D55"/>
                </a:solidFill>
                <a:latin typeface="Calibri"/>
              </a:rPr>
              <a:t>CAPSTONE DESIGN</a:t>
            </a:r>
          </a:p>
          <a:p>
            <a:pPr algn="l"/>
            <a:r>
              <a:rPr sz="800" b="0" i="0">
                <a:solidFill>
                  <a:srgbClr val="3A3A3A"/>
                </a:solidFill>
                <a:latin typeface="Calibri"/>
              </a:rPr>
              <a:t>INNOVATION  |  COLLABORATION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1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34088" y="6400800"/>
            <a:ext cx="54864" cy="41148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