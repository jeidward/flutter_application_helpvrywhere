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92608"/>
            <a:ext cx="109728" cy="64008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A3A3A"/>
                </a:solidFill>
                <a:latin typeface="Cambria"/>
              </a:rPr>
              <a:t>Project implementation details –  Nearby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6949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A3A3A"/>
                </a:solidFill>
                <a:latin typeface="Calibri"/>
              </a:rPr>
              <a:t>Real-time community map — volunteers see help requests around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83080"/>
            <a:ext cx="6949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9D55"/>
                </a:solidFill>
                <a:latin typeface="Calibri"/>
              </a:rPr>
              <a:t>»  </a:t>
            </a:r>
            <a:r>
              <a:rPr sz="1300">
                <a:solidFill>
                  <a:srgbClr val="555555"/>
                </a:solidFill>
                <a:latin typeface="Calibri"/>
              </a:rPr>
              <a:t>Live Firestore stream of all `active` requests — no polling, instant update when a new one is posted.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9D55"/>
                </a:solidFill>
                <a:latin typeface="Calibri"/>
              </a:rPr>
              <a:t>»  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Volunteer's GPS + Geolocator compute distance per request; sorted nearest first.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9D55"/>
                </a:solidFill>
                <a:latin typeface="Calibri"/>
              </a:rPr>
              <a:t>»  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Mapbox map preview with avatar pin (volunteer) + numbered orange pins (requests).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9D55"/>
                </a:solidFill>
                <a:latin typeface="Calibri"/>
              </a:rPr>
              <a:t>»  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Category chips filter the same stream client-side (Groceries  ·  Transport  ·  Household  ·  Companionship).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F9D55"/>
                </a:solidFill>
                <a:latin typeface="Calibri"/>
              </a:rPr>
              <a:t>»  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“Full map” button → dedicated fullscreen view with draggable bottom-sheet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160520"/>
            <a:ext cx="1325880" cy="502920"/>
          </a:xfrm>
          <a:prstGeom prst="roundRect">
            <a:avLst/>
          </a:prstGeom>
          <a:solidFill>
            <a:srgbClr val="FFF7E1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Firestore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57360" y="4325112"/>
            <a:ext cx="14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4160520"/>
            <a:ext cx="1325880" cy="502920"/>
          </a:xfrm>
          <a:prstGeom prst="roundRect">
            <a:avLst/>
          </a:prstGeom>
          <a:solidFill>
            <a:srgbClr val="C8CDD3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Stream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66120" y="4325112"/>
            <a:ext cx="14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4160520"/>
            <a:ext cx="1325880" cy="502920"/>
          </a:xfrm>
          <a:prstGeom prst="roundRect">
            <a:avLst/>
          </a:prstGeom>
          <a:solidFill>
            <a:srgbClr val="E8EEF8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+ My GPS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74880" y="4325112"/>
            <a:ext cx="14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7760" y="4160520"/>
            <a:ext cx="1325880" cy="502920"/>
          </a:xfrm>
          <a:prstGeom prst="roundRect">
            <a:avLst/>
          </a:prstGeom>
          <a:solidFill>
            <a:srgbClr val="C8CDD3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Filter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283640" y="4325112"/>
            <a:ext cx="1428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4160520"/>
            <a:ext cx="1325880" cy="502920"/>
          </a:xfrm>
          <a:prstGeom prst="roundRect">
            <a:avLst/>
          </a:prstGeom>
          <a:solidFill>
            <a:srgbClr val="E6F7EE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Map +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00600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A3A3A"/>
                </a:solidFill>
                <a:latin typeface="Calibri"/>
              </a:rPr>
              <a:t>Built with:</a:t>
            </a:r>
          </a:p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Flutter  ·  Cloud Firestore  ·  Mapbox Maps SDK  ·  Geolocator  ·  Firebase Auth</a:t>
            </a:r>
          </a:p>
          <a:p>
            <a:pPr algn="l"/>
            <a:r>
              <a:rPr sz="400" b="0" i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Distance is computed client-side with Geolocator.distanceBetween, so it stays accurate even when the user moves — no extra Firestore reads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188720"/>
            <a:ext cx="4160520" cy="3749039"/>
          </a:xfrm>
          <a:prstGeom prst="rect">
            <a:avLst/>
          </a:prstGeom>
          <a:solidFill>
            <a:srgbClr val="FAFBFC"/>
          </a:solidFill>
          <a:ln w="15875">
            <a:solidFill>
              <a:srgbClr val="9EA3A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1">
                <a:solidFill>
                  <a:srgbClr val="9EA3AA"/>
                </a:solidFill>
                <a:latin typeface="Calibri"/>
              </a:rPr>
              <a:t>📱  Screenshot:
Map preview + nearby cards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5074920"/>
            <a:ext cx="2011680" cy="1280160"/>
          </a:xfrm>
          <a:prstGeom prst="rect">
            <a:avLst/>
          </a:prstGeom>
          <a:solidFill>
            <a:srgbClr val="FAFBFC"/>
          </a:solidFill>
          <a:ln w="15875">
            <a:solidFill>
              <a:srgbClr val="9EA3A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 i="1">
                <a:solidFill>
                  <a:srgbClr val="9EA3AA"/>
                </a:solidFill>
                <a:latin typeface="Calibri"/>
              </a:rPr>
              <a:t>Full 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0" y="5074920"/>
            <a:ext cx="2011680" cy="1280160"/>
          </a:xfrm>
          <a:prstGeom prst="rect">
            <a:avLst/>
          </a:prstGeom>
          <a:solidFill>
            <a:srgbClr val="FAFBFC"/>
          </a:solidFill>
          <a:ln w="15875">
            <a:solidFill>
              <a:srgbClr val="9EA3A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 i="1">
                <a:solidFill>
                  <a:srgbClr val="9EA3AA"/>
                </a:solidFill>
                <a:latin typeface="Calibri"/>
              </a:rPr>
              <a:t>Request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9D55"/>
                </a:solidFill>
                <a:latin typeface="Calibri"/>
              </a:rPr>
              <a:t>CAPSTONE DESIGN</a:t>
            </a:r>
          </a:p>
          <a:p>
            <a:pPr algn="l"/>
            <a:r>
              <a:rPr sz="800" b="0" i="0">
                <a:solidFill>
                  <a:srgbClr val="3A3A3A"/>
                </a:solidFill>
                <a:latin typeface="Calibri"/>
              </a:rPr>
              <a:t>INNOVATION  |  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1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134088" y="6400800"/>
            <a:ext cx="54864" cy="41148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92608"/>
            <a:ext cx="109728" cy="64008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A3A3A"/>
                </a:solidFill>
                <a:latin typeface="Cambria"/>
              </a:rPr>
              <a:t>Project Architecture –  Nearby Request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»  How the volunteer's screen of nearby help requests is built — from the phone out to the cloud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5760720" cy="3840480"/>
          </a:xfrm>
          <a:prstGeom prst="roundRect">
            <a:avLst/>
          </a:prstGeom>
          <a:solidFill>
            <a:srgbClr val="E8EEF8"/>
          </a:solidFill>
          <a:ln w="19050">
            <a:solidFill>
              <a:srgbClr val="025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56232"/>
            <a:ext cx="255117" cy="411480"/>
          </a:xfrm>
          <a:prstGeom prst="roundRect">
            <a:avLst/>
          </a:prstGeom>
          <a:solidFill>
            <a:srgbClr val="02569B"/>
          </a:solidFill>
          <a:ln w="6350">
            <a:solidFill>
              <a:srgbClr val="025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5459" y="1893265"/>
            <a:ext cx="32918" cy="3291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013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2569B"/>
                </a:solidFill>
                <a:latin typeface="Cambria"/>
              </a:rPr>
              <a:t>Flutter Mobile App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the volunteer's phone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60320"/>
            <a:ext cx="260604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60320"/>
            <a:ext cx="2606040" cy="91440"/>
          </a:xfrm>
          <a:prstGeom prst="rect">
            <a:avLst/>
          </a:prstGeom>
          <a:solidFill>
            <a:srgbClr val="025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3A3A"/>
                </a:solidFill>
                <a:latin typeface="Calibri"/>
              </a:rPr>
              <a:t>RequestMap &amp; Full-map
Screens</a:t>
            </a:r>
          </a:p>
          <a:p>
            <a:pPr algn="l"/>
            <a:r>
              <a:rPr sz="200" b="0" i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Renders the Mapbox map + scrollable
cards of nearby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560320"/>
            <a:ext cx="260604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560320"/>
            <a:ext cx="2606040" cy="91440"/>
          </a:xfrm>
          <a:prstGeom prst="rect">
            <a:avLst/>
          </a:prstGeom>
          <a:solidFill>
            <a:srgbClr val="F58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74320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3A3A"/>
                </a:solidFill>
                <a:latin typeface="Calibri"/>
              </a:rPr>
              <a:t>RequestService</a:t>
            </a:r>
          </a:p>
          <a:p>
            <a:pPr algn="l"/>
            <a:r>
              <a:rPr sz="200" b="0" i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Streams the /requests collection
from Firestore (live updates)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886200"/>
            <a:ext cx="260604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886200"/>
            <a:ext cx="2606040" cy="914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3A3A"/>
                </a:solidFill>
                <a:latin typeface="Calibri"/>
              </a:rPr>
              <a:t>LocationService</a:t>
            </a:r>
          </a:p>
          <a:p>
            <a:pPr algn="l"/>
            <a:r>
              <a:rPr sz="200" b="0" i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Geolocator → user's GPS
position. Used to compute distance.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886200"/>
            <a:ext cx="260604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3886200"/>
            <a:ext cx="2606040" cy="91440"/>
          </a:xfrm>
          <a:prstGeom prst="rect">
            <a:avLst/>
          </a:prstGeom>
          <a:solidFill>
            <a:srgbClr val="7C5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06908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A3A3A"/>
                </a:solidFill>
                <a:latin typeface="Calibri"/>
              </a:rPr>
              <a:t>AuthService</a:t>
            </a:r>
          </a:p>
          <a:p>
            <a:pPr algn="l"/>
            <a:r>
              <a:rPr sz="200" b="0" i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Looks up /users/{uid} so each
card shows the requester's name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691640"/>
            <a:ext cx="5257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1691640"/>
            <a:ext cx="5257800" cy="91440"/>
          </a:xfrm>
          <a:prstGeom prst="rect">
            <a:avLst/>
          </a:prstGeom>
          <a:solidFill>
            <a:srgbClr val="F58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ardrop 23"/>
          <p:cNvSpPr/>
          <p:nvPr/>
        </p:nvSpPr>
        <p:spPr>
          <a:xfrm rot="10800000">
            <a:off x="6720840" y="1920240"/>
            <a:ext cx="352044" cy="502920"/>
          </a:xfrm>
          <a:prstGeom prst="teardrop">
            <a:avLst/>
          </a:prstGeom>
          <a:solidFill>
            <a:srgbClr val="F58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ardrop 24"/>
          <p:cNvSpPr/>
          <p:nvPr/>
        </p:nvSpPr>
        <p:spPr>
          <a:xfrm rot="10800000">
            <a:off x="6811365" y="2071116"/>
            <a:ext cx="170992" cy="276606"/>
          </a:xfrm>
          <a:prstGeom prst="teardrop">
            <a:avLst/>
          </a:prstGeom>
          <a:solidFill>
            <a:srgbClr val="FFC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892808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A3A3A"/>
                </a:solidFill>
                <a:latin typeface="Calibri"/>
              </a:rPr>
              <a:t>Cloud Firestore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/requests + /users  ·  realtime stream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2743200"/>
            <a:ext cx="5257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2743200"/>
            <a:ext cx="5257800" cy="9144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2971800"/>
            <a:ext cx="502920" cy="427482"/>
          </a:xfrm>
          <a:prstGeom prst="roundRect">
            <a:avLst/>
          </a:prstGeom>
          <a:solidFill>
            <a:srgbClr val="44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7154" y="2971800"/>
            <a:ext cx="20116" cy="4274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47738" y="3082442"/>
            <a:ext cx="90525" cy="90525"/>
          </a:xfrm>
          <a:prstGeom prst="ellipse">
            <a:avLst/>
          </a:prstGeom>
          <a:solidFill>
            <a:srgbClr val="D2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944368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A3A3A"/>
                </a:solidFill>
                <a:latin typeface="Calibri"/>
              </a:rPr>
              <a:t>Mapbox SDK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vector map tiles  ·  custom marker pins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3794760"/>
            <a:ext cx="5257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37960" y="3794760"/>
            <a:ext cx="5257800" cy="914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20840" y="4023360"/>
            <a:ext cx="377190" cy="37719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6628" y="4159148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3995928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A3A3A"/>
                </a:solidFill>
                <a:latin typeface="Calibri"/>
              </a:rPr>
              <a:t>GPS  (Android Location)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Geolocator plugin  ·  fine-accuracy fix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846320"/>
            <a:ext cx="5257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37960" y="4846320"/>
            <a:ext cx="5257800" cy="91440"/>
          </a:xfrm>
          <a:prstGeom prst="rect">
            <a:avLst/>
          </a:prstGeom>
          <a:solidFill>
            <a:srgbClr val="7C5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31482" y="5074920"/>
            <a:ext cx="181051" cy="181051"/>
          </a:xfrm>
          <a:prstGeom prst="ellipse">
            <a:avLst/>
          </a:prstGeom>
          <a:solidFill>
            <a:srgbClr val="7C5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45986" y="5276088"/>
            <a:ext cx="352044" cy="226314"/>
          </a:xfrm>
          <a:prstGeom prst="roundRect">
            <a:avLst/>
          </a:prstGeom>
          <a:solidFill>
            <a:srgbClr val="7C5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5047488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A3A3A"/>
                </a:solidFill>
                <a:latin typeface="Calibri"/>
              </a:rPr>
              <a:t>Other volunteers / requesters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create requests visible to everyone nearby</a:t>
            </a:r>
          </a:p>
        </p:txBody>
      </p:sp>
      <p:sp>
        <p:nvSpPr>
          <p:cNvPr id="43" name="Left-Right Arrow 42"/>
          <p:cNvSpPr/>
          <p:nvPr/>
        </p:nvSpPr>
        <p:spPr>
          <a:xfrm>
            <a:off x="6190488" y="2075688"/>
            <a:ext cx="329184" cy="128016"/>
          </a:xfrm>
          <a:prstGeom prst="left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eft-Right Arrow 43"/>
          <p:cNvSpPr/>
          <p:nvPr/>
        </p:nvSpPr>
        <p:spPr>
          <a:xfrm>
            <a:off x="6190488" y="3127248"/>
            <a:ext cx="329184" cy="128016"/>
          </a:xfrm>
          <a:prstGeom prst="left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eft-Right Arrow 44"/>
          <p:cNvSpPr/>
          <p:nvPr/>
        </p:nvSpPr>
        <p:spPr>
          <a:xfrm>
            <a:off x="6190488" y="4178808"/>
            <a:ext cx="329184" cy="128016"/>
          </a:xfrm>
          <a:prstGeom prst="left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eft-Right Arrow 45"/>
          <p:cNvSpPr/>
          <p:nvPr/>
        </p:nvSpPr>
        <p:spPr>
          <a:xfrm>
            <a:off x="6190488" y="5230368"/>
            <a:ext cx="329184" cy="128016"/>
          </a:xfrm>
          <a:prstGeom prst="left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79476" y="5669280"/>
            <a:ext cx="1828800" cy="502920"/>
          </a:xfrm>
          <a:prstGeom prst="roundRect">
            <a:avLst/>
          </a:prstGeom>
          <a:solidFill>
            <a:srgbClr val="025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1.  Open screen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99716" y="5669280"/>
            <a:ext cx="1828800" cy="50292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2.  Get GPS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19956" y="5669280"/>
            <a:ext cx="1828800" cy="502920"/>
          </a:xfrm>
          <a:prstGeom prst="roundRect">
            <a:avLst/>
          </a:prstGeom>
          <a:solidFill>
            <a:srgbClr val="F58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3.  Stream  /requests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40196" y="5669280"/>
            <a:ext cx="1828800" cy="502920"/>
          </a:xfrm>
          <a:prstGeom prst="roundRect">
            <a:avLst/>
          </a:prstGeom>
          <a:solidFill>
            <a:srgbClr val="7C5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4.  Resolve usernames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60436" y="5669280"/>
            <a:ext cx="1828800" cy="502920"/>
          </a:xfrm>
          <a:prstGeom prst="roundRect">
            <a:avLst/>
          </a:prstGeom>
          <a:solidFill>
            <a:srgbClr val="44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5.  Compute distance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80676" y="5669280"/>
            <a:ext cx="1828800" cy="502920"/>
          </a:xfrm>
          <a:prstGeom prst="roundRect">
            <a:avLst/>
          </a:prstGeom>
          <a:solidFill>
            <a:srgbClr val="D25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6.  Render map + list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9D55"/>
                </a:solidFill>
                <a:latin typeface="Calibri"/>
              </a:rPr>
              <a:t>CAPSTONE DESIGN</a:t>
            </a:r>
          </a:p>
          <a:p>
            <a:pPr algn="l"/>
            <a:r>
              <a:rPr sz="800" b="0" i="0">
                <a:solidFill>
                  <a:srgbClr val="3A3A3A"/>
                </a:solidFill>
                <a:latin typeface="Calibri"/>
              </a:rPr>
              <a:t>INNOVATION  |  COLLABORATION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1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134088" y="6400800"/>
            <a:ext cx="54864" cy="411480"/>
          </a:xfrm>
          <a:prstGeom prst="rect">
            <a:avLst/>
          </a:prstGeom>
          <a:solidFill>
            <a:srgbClr val="1F9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